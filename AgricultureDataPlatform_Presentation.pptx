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Agricultural Data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Cloud-Native Architecture for ARE Directorate</a:t>
            </a:r>
          </a:p>
          <a:p/>
          <a:p>
            <a:r>
              <a:t>Head of Data Engineering</a:t>
            </a:r>
          </a:p>
          <a:p>
            <a:r>
              <a:t>Technical Assessment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Vision</a:t>
            </a:r>
          </a:p>
          <a:p>
            <a:pPr lvl="1"/>
            <a:r>
              <a:t>Transform ARE's data capabilities with a modern, scalable Unified Data Platform (UDP)</a:t>
            </a:r>
          </a:p>
          <a:p>
            <a:br/>
            <a:pPr>
              <a:defRPr b="1"/>
            </a:pPr>
            <a:r>
              <a:t>Key Objectives</a:t>
            </a:r>
          </a:p>
          <a:p>
            <a:pPr lvl="1"/>
            <a:r>
              <a:t>• Replace legacy systems with cloud-native architecture</a:t>
            </a:r>
          </a:p>
          <a:p>
            <a:pPr lvl="1"/>
            <a:r>
              <a:t>• Enable real-time analytics for £600M annual payments</a:t>
            </a:r>
          </a:p>
          <a:p>
            <a:pPr lvl="1"/>
            <a:r>
              <a:t>• Support IoT integration from agricultural sensors</a:t>
            </a:r>
          </a:p>
          <a:p>
            <a:pPr lvl="1"/>
            <a:r>
              <a:t>• Ensure GDPR compliance and data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Scalability: Auto-scaling infrastructure to handle seasonal peaks (harvest periods)</a:t>
            </a:r>
          </a:p>
          <a:p>
            <a:pPr>
              <a:defRPr sz="1400"/>
            </a:pPr>
            <a:r>
              <a:t>• Security: Zero-trust architecture with encryption at rest and in transit</a:t>
            </a:r>
          </a:p>
          <a:p>
            <a:pPr>
              <a:defRPr sz="1400"/>
            </a:pPr>
            <a:r>
              <a:t>• Interoperability: API-first design supporting REST, GraphQL, and event streaming</a:t>
            </a:r>
          </a:p>
          <a:p>
            <a:pPr>
              <a:defRPr sz="1400"/>
            </a:pPr>
            <a:r>
              <a:t>• Governance: Built-in data lineage, quality monitoring, and GDPR compliance</a:t>
            </a:r>
          </a:p>
          <a:p>
            <a:pPr>
              <a:defRPr sz="1400"/>
            </a:pPr>
            <a:r>
              <a:t>• Cost Efficiency: Serverless-first approach with consumption-based pricing</a:t>
            </a:r>
          </a:p>
          <a:p>
            <a:pPr>
              <a:defRPr sz="1400"/>
            </a:pPr>
            <a:r>
              <a:t>• Resilience: Multi-AZ deployment with 99.99% availability SLA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 - Layered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/>
            </a:pPr>
            <a:r>
              <a:t>Data Sources</a:t>
            </a:r>
          </a:p>
          <a:p>
            <a:pPr lvl="1">
              <a:defRPr sz="1200"/>
            </a:pPr>
            <a:r>
              <a:t>• Farm IoT Sensors • Legacy Systems • Spreadsheets • External APIs</a:t>
            </a:r>
          </a:p>
          <a:p>
            <a:pPr>
              <a:defRPr b="1" sz="1400"/>
            </a:pPr>
            <a:r>
              <a:t>Ingestion Layer</a:t>
            </a:r>
          </a:p>
          <a:p>
            <a:pPr lvl="1">
              <a:defRPr sz="1200"/>
            </a:pPr>
            <a:r>
              <a:t>• Azure Event Hubs (streaming) • Azure Data Factory (batch) • API Gateway</a:t>
            </a:r>
          </a:p>
          <a:p>
            <a:pPr>
              <a:defRPr b="1" sz="1400"/>
            </a:pPr>
            <a:r>
              <a:t>Storage Layer</a:t>
            </a:r>
          </a:p>
          <a:p>
            <a:pPr lvl="1">
              <a:defRPr sz="1200"/>
            </a:pPr>
            <a:r>
              <a:t>• Bronze (Raw): Azure Data Lake Gen2 • Silver (Cleansed): Delta Lake • Gold (Curated): Synapse</a:t>
            </a:r>
          </a:p>
          <a:p>
            <a:pPr>
              <a:defRPr b="1" sz="1400"/>
            </a:pPr>
            <a:r>
              <a:t>Processing Layer</a:t>
            </a:r>
          </a:p>
          <a:p>
            <a:pPr lvl="1">
              <a:defRPr sz="1200"/>
            </a:pPr>
            <a:r>
              <a:t>• Apache Spark (Databricks) • Stream Analytics • Azure Functions</a:t>
            </a:r>
          </a:p>
          <a:p>
            <a:pPr>
              <a:defRPr b="1" sz="1400"/>
            </a:pPr>
            <a:r>
              <a:t>Analytics Layer</a:t>
            </a:r>
          </a:p>
          <a:p>
            <a:pPr lvl="1">
              <a:defRPr sz="1200"/>
            </a:pPr>
            <a:r>
              <a:t>• Power BI • Azure ML • Cognitive Services</a:t>
            </a:r>
          </a:p>
          <a:p>
            <a:pPr>
              <a:defRPr b="1" sz="1400"/>
            </a:pPr>
            <a:r>
              <a:t>Governance Layer</a:t>
            </a:r>
          </a:p>
          <a:p>
            <a:pPr lvl="1">
              <a:defRPr sz="1200"/>
            </a:pPr>
            <a:r>
              <a:t>• Purview (Catalog) • Data Quality Rules • Lineage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• Cloud Platform: Microsoft Azure (aligning with Scottish Government standards)</a:t>
            </a:r>
          </a:p>
          <a:p>
            <a:pPr>
              <a:defRPr sz="1200"/>
            </a:pPr>
            <a:r>
              <a:t>• Data Lake: Azure Data Lake Storage Gen2 with Delta Lake format</a:t>
            </a:r>
          </a:p>
          <a:p>
            <a:pPr>
              <a:defRPr sz="1200"/>
            </a:pPr>
            <a:r>
              <a:t>• Orchestration: Azure Data Factory for batch, Event Hubs for streaming</a:t>
            </a:r>
          </a:p>
          <a:p>
            <a:pPr>
              <a:defRPr sz="1200"/>
            </a:pPr>
            <a:r>
              <a:t>• Processing: Databricks for large-scale processing, Functions for microservices</a:t>
            </a:r>
          </a:p>
          <a:p>
            <a:pPr>
              <a:defRPr sz="1200"/>
            </a:pPr>
            <a:r>
              <a:t>• Data Warehouse: Azure Synapse Analytics for enterprise reporting</a:t>
            </a:r>
          </a:p>
          <a:p>
            <a:pPr>
              <a:defRPr sz="1200"/>
            </a:pPr>
            <a:r>
              <a:t>• Metadata: Azure Purview for data catalog and governance</a:t>
            </a:r>
          </a:p>
          <a:p>
            <a:pPr>
              <a:defRPr sz="1200"/>
            </a:pPr>
            <a:r>
              <a:t>• Monitoring: Azure Monitor, Application Insights, Log Analytics</a:t>
            </a:r>
          </a:p>
          <a:p>
            <a:pPr>
              <a:defRPr sz="1200"/>
            </a:pPr>
            <a:r>
              <a:t>• Security: Azure Key Vault, Managed Identities, Private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Lineage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200"/>
            </a:pPr>
            <a:r>
              <a:t>Automated Quality Checks</a:t>
            </a:r>
          </a:p>
          <a:p>
            <a:pPr>
              <a:defRPr sz="1200"/>
            </a:pPr>
            <a:r>
              <a:t>• Completeness, Uniqueness, Consistency, Validity, Timeliness</a:t>
            </a:r>
          </a:p>
          <a:p>
            <a:pPr>
              <a:defRPr sz="1200"/>
            </a:pPr>
          </a:p>
          <a:p>
            <a:pPr>
              <a:defRPr b="1" sz="1200"/>
            </a:pPr>
            <a:r>
              <a:t>Data Lineage Tracking</a:t>
            </a:r>
          </a:p>
          <a:p>
            <a:pPr>
              <a:defRPr sz="1200"/>
            </a:pPr>
            <a:r>
              <a:t>• Source-to-target mapping with Azure Purview</a:t>
            </a:r>
          </a:p>
          <a:p>
            <a:pPr>
              <a:defRPr sz="1200"/>
            </a:pPr>
            <a:r>
              <a:t>• Impact analysis for schema changes</a:t>
            </a:r>
          </a:p>
          <a:p>
            <a:pPr>
              <a:defRPr sz="1200"/>
            </a:pPr>
            <a:r>
              <a:t>• Audit trail for compliance (GDPR Article 30)</a:t>
            </a:r>
          </a:p>
          <a:p>
            <a:pPr>
              <a:defRPr sz="1200"/>
            </a:pPr>
          </a:p>
          <a:p>
            <a:pPr>
              <a:defRPr b="1" sz="1200"/>
            </a:pPr>
            <a:r>
              <a:t>Metadata Management</a:t>
            </a:r>
          </a:p>
          <a:p>
            <a:pPr>
              <a:defRPr sz="1200"/>
            </a:pPr>
            <a:r>
              <a:t>• Business glossary and data dictionary</a:t>
            </a:r>
          </a:p>
          <a:p>
            <a:pPr>
              <a:defRPr sz="1200"/>
            </a:pPr>
            <a:r>
              <a:t>• Schema versioning with Delta Lake</a:t>
            </a:r>
          </a:p>
          <a:p>
            <a:pPr>
              <a:defRPr sz="1200"/>
            </a:pPr>
            <a:r>
              <a:t>• Automated documentation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Approach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200">
                <a:solidFill>
                  <a:srgbClr val="002060"/>
                </a:solidFill>
              </a:defRPr>
            </a:pPr>
            <a:r>
              <a:t>Phase 1: Foundation (Months 1-3)</a:t>
            </a:r>
          </a:p>
          <a:p>
            <a:pPr>
              <a:defRPr sz="1200"/>
            </a:pPr>
            <a:r>
              <a:t>• Setup cloud infrastructure and DevOps pipelines</a:t>
            </a:r>
          </a:p>
          <a:p>
            <a:pPr>
              <a:defRPr sz="1200"/>
            </a:pPr>
            <a:r>
              <a:t>• Establish data governance framework</a:t>
            </a:r>
          </a:p>
          <a:p>
            <a:pPr>
              <a:defRPr sz="1200"/>
            </a:pPr>
            <a:r>
              <a:t>• Proof of Concept with sensor data</a:t>
            </a:r>
          </a:p>
          <a:p>
            <a:pPr>
              <a:defRPr sz="1200"/>
            </a:pPr>
          </a:p>
          <a:p>
            <a:pPr>
              <a:defRPr b="1" sz="1200">
                <a:solidFill>
                  <a:srgbClr val="002060"/>
                </a:solidFill>
              </a:defRPr>
            </a:pPr>
            <a:r>
              <a:t>Phase 2: Migration (Months 4-9)</a:t>
            </a:r>
          </a:p>
          <a:p>
            <a:pPr>
              <a:defRPr sz="1200"/>
            </a:pPr>
            <a:r>
              <a:t>• Migrate priority data sources to Data Lake</a:t>
            </a:r>
          </a:p>
          <a:p>
            <a:pPr>
              <a:defRPr sz="1200"/>
            </a:pPr>
            <a:r>
              <a:t>• Build core data pipelines and quality checks</a:t>
            </a:r>
          </a:p>
          <a:p>
            <a:pPr>
              <a:defRPr sz="1200"/>
            </a:pPr>
            <a:r>
              <a:t>• Deploy analytics dashboards for pilot users</a:t>
            </a:r>
          </a:p>
          <a:p>
            <a:pPr>
              <a:defRPr sz="1200"/>
            </a:pPr>
          </a:p>
          <a:p>
            <a:pPr>
              <a:defRPr b="1" sz="1200">
                <a:solidFill>
                  <a:srgbClr val="002060"/>
                </a:solidFill>
              </a:defRPr>
            </a:pPr>
            <a:r>
              <a:t>Phase 3: Scale (Months 10-12)</a:t>
            </a:r>
          </a:p>
          <a:p>
            <a:pPr>
              <a:defRPr sz="1200"/>
            </a:pPr>
            <a:r>
              <a:t>• Full production deployment</a:t>
            </a:r>
          </a:p>
          <a:p>
            <a:pPr>
              <a:defRPr sz="1200"/>
            </a:pPr>
            <a:r>
              <a:t>• Machine learning model deployment</a:t>
            </a:r>
          </a:p>
          <a:p>
            <a:pPr>
              <a:defRPr sz="1200"/>
            </a:pPr>
            <a:r>
              <a:t>• Training and handover to operations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