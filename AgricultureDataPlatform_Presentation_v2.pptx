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Agricultural Data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Cloud-Native Architecture for ARE Directorate</a:t>
            </a:r>
          </a:p>
          <a:p/>
          <a:p>
            <a:r>
              <a:t>Head of Data Engineering</a:t>
            </a:r>
          </a:p>
          <a:p>
            <a:r>
              <a:t>Technical Assessment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Transform ARE data capabilities with modern UDP</a:t>
            </a:r>
          </a:p>
          <a:p>
            <a:pPr>
              <a:defRPr sz="1800"/>
            </a:pPr>
            <a:r>
              <a:t>• Replace legacy systems → cloud-native architecture</a:t>
            </a:r>
          </a:p>
          <a:p>
            <a:pPr>
              <a:defRPr sz="1800"/>
            </a:pPr>
            <a:r>
              <a:t>• Enable real-time analytics for £600M payments</a:t>
            </a:r>
          </a:p>
          <a:p>
            <a:pPr>
              <a:defRPr sz="1800"/>
            </a:pPr>
            <a:r>
              <a:t>• Integrate 200K IoT sensors from 50K farms</a:t>
            </a:r>
          </a:p>
          <a:p>
            <a:pPr>
              <a:defRPr sz="1800"/>
            </a:pPr>
            <a:r>
              <a:t>• Ensure GDPR compliance &amp; data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28800" cy="731520"/>
          </a:xfrm>
          <a:prstGeom prst="roundRect">
            <a:avLst/>
          </a:prstGeom>
          <a:solidFill>
            <a:srgbClr val="4682B4"/>
          </a:solidFill>
          <a:ln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DATA SOURCES</a:t>
            </a:r>
          </a:p>
          <a:p/>
          <a:p>
            <a:r>
              <a:t>• IoT Sensors</a:t>
            </a:r>
          </a:p>
          <a:p>
            <a:r>
              <a:t>• Legacy Systems</a:t>
            </a:r>
          </a:p>
          <a:p>
            <a:r>
              <a:t>• Spreadsheets</a:t>
            </a:r>
          </a:p>
          <a:p>
            <a:r>
              <a:t>• External APIs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1828800" cy="731520"/>
          </a:xfrm>
          <a:prstGeom prst="roundRect">
            <a:avLst/>
          </a:prstGeom>
          <a:solidFill>
            <a:srgbClr val="6495ED"/>
          </a:solidFill>
          <a:ln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INGESTION</a:t>
            </a:r>
          </a:p>
          <a:p/>
          <a:p>
            <a:r>
              <a:t>• Event Hubs (Stream)</a:t>
            </a:r>
          </a:p>
          <a:p>
            <a:r>
              <a:t>• Data Factory (Batch)</a:t>
            </a:r>
          </a:p>
          <a:p>
            <a:r>
              <a:t>• API Management</a:t>
            </a:r>
          </a:p>
          <a:p>
            <a:r>
              <a:t>• Azure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1828800" cy="731520"/>
          </a:xfrm>
          <a:prstGeom prst="roundRect">
            <a:avLst/>
          </a:prstGeom>
          <a:solidFill>
            <a:srgbClr val="3CB371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LAKEHOUSE</a:t>
            </a:r>
          </a:p>
          <a:p/>
          <a:p>
            <a:r>
              <a:t>• Bronze (Raw)</a:t>
            </a:r>
          </a:p>
          <a:p>
            <a:r>
              <a:t>• Silver (Cleansed)</a:t>
            </a:r>
          </a:p>
          <a:p>
            <a:r>
              <a:t>• Gold (Curated)</a:t>
            </a:r>
          </a:p>
          <a:p>
            <a:r>
              <a:t>• Delta Lake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1828800" cy="731520"/>
          </a:xfrm>
          <a:prstGeom prst="roundRect">
            <a:avLst/>
          </a:prstGeom>
          <a:solidFill>
            <a:srgbClr val="9932CC"/>
          </a:solidFill>
          <a:ln>
            <a:solidFill>
              <a:srgbClr val="4B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CONSUMERS</a:t>
            </a:r>
          </a:p>
          <a:p/>
          <a:p>
            <a:r>
              <a:t>• Synapse Analytics</a:t>
            </a:r>
          </a:p>
          <a:p>
            <a:r>
              <a:t>• Power BI</a:t>
            </a:r>
          </a:p>
          <a:p>
            <a:r>
              <a:t>• Machine Learning</a:t>
            </a:r>
          </a:p>
          <a:p>
            <a:r>
              <a:t>• External APIs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B22222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GOVERNANCE &amp; SECURITY: Azure Purview | Azure Key Vault | RBAC | Data Lineage |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459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Scalability: Auto-scaling for seasonal peaks</a:t>
            </a:r>
          </a:p>
          <a:p>
            <a:pPr>
              <a:defRPr sz="1800"/>
            </a:pPr>
            <a:r>
              <a:t>• Security: Zero-trust, encryption everywhere</a:t>
            </a:r>
          </a:p>
          <a:p>
            <a:pPr>
              <a:defRPr sz="1800"/>
            </a:pPr>
            <a:r>
              <a:t>• Interoperability: API-first design</a:t>
            </a:r>
          </a:p>
          <a:p>
            <a:pPr>
              <a:defRPr sz="1800"/>
            </a:pPr>
            <a:r>
              <a:t>• Governance: Built-in lineage &amp; GDPR compliance</a:t>
            </a:r>
          </a:p>
          <a:p>
            <a:pPr>
              <a:defRPr sz="1800"/>
            </a:pPr>
            <a:r>
              <a:t>• Cost Efficiency: Serverless &amp; consumption-based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Cloud: Microsoft Azure (Scottish Gov standard)</a:t>
            </a:r>
          </a:p>
          <a:p>
            <a:pPr>
              <a:defRPr sz="1800"/>
            </a:pPr>
            <a:r>
              <a:t>• Storage: Data Lake Gen2 + Delta Lake</a:t>
            </a:r>
          </a:p>
          <a:p>
            <a:pPr>
              <a:defRPr sz="1800"/>
            </a:pPr>
            <a:r>
              <a:t>• Processing: Databricks + Azure Functions</a:t>
            </a:r>
          </a:p>
          <a:p>
            <a:pPr>
              <a:defRPr sz="1800"/>
            </a:pPr>
            <a:r>
              <a:t>• Analytics: Synapse + Power BI</a:t>
            </a:r>
          </a:p>
          <a:p>
            <a:pPr>
              <a:defRPr sz="1800"/>
            </a:pPr>
            <a:r>
              <a:t>• Governance: Purview + Key Vault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to Pipeline: Farm Soil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Example Data Product Implementation:</a:t>
            </a:r>
          </a:p>
          <a:p>
            <a:br/>
            <a:pPr>
              <a:defRPr b="1" sz="1800"/>
            </a:pPr>
            <a:r>
              <a:t>• Data Quality:</a:t>
            </a:r>
          </a:p>
          <a:p>
            <a:pPr lvl="1">
              <a:defRPr sz="1600"/>
            </a:pPr>
            <a:r>
              <a:t>  - Duplicate detection &amp; removal</a:t>
            </a:r>
          </a:p>
          <a:p>
            <a:pPr lvl="1">
              <a:defRPr sz="1600"/>
            </a:pPr>
            <a:r>
              <a:t>  - Timestamp standardization (DD/MM → ISO)</a:t>
            </a:r>
          </a:p>
          <a:p>
            <a:pPr lvl="1">
              <a:defRPr sz="1600"/>
            </a:pPr>
            <a:r>
              <a:t>  - Type validation &amp; coercion</a:t>
            </a:r>
          </a:p>
          <a:p>
            <a:br/>
            <a:pPr>
              <a:defRPr b="1" sz="1800"/>
            </a:pPr>
            <a:r>
              <a:t>• Business Logic:</a:t>
            </a:r>
          </a:p>
          <a:p>
            <a:pPr lvl="1">
              <a:defRPr sz="1600"/>
            </a:pPr>
            <a:r>
              <a:t>  - Configurable thresholds (30% moisture)</a:t>
            </a:r>
          </a:p>
          <a:p>
            <a:pPr lvl="1">
              <a:defRPr sz="1600"/>
            </a:pPr>
            <a:r>
              <a:t>  - Consecutive day alerts (3+ days)</a:t>
            </a:r>
          </a:p>
          <a:p>
            <a:br/>
            <a:pPr>
              <a:defRPr b="1" sz="1800"/>
            </a:pPr>
            <a:r>
              <a:t>• Operational Excellence:</a:t>
            </a:r>
          </a:p>
          <a:p>
            <a:pPr lvl="1">
              <a:defRPr sz="1600"/>
            </a:pPr>
            <a:r>
              <a:t>  - Full lineage tracking (pipeline_metadata.json)</a:t>
            </a:r>
          </a:p>
          <a:p>
            <a:pPr lvl="1">
              <a:defRPr sz="1600"/>
            </a:pPr>
            <a:r>
              <a:t>  - Automated dashboards &amp;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002060"/>
                </a:solidFill>
              </a:defRPr>
            </a:pPr>
            <a:r>
              <a:t>Phase 1: Foundation (Months 1-3)</a:t>
            </a:r>
          </a:p>
          <a:p>
            <a:pPr lvl="1">
              <a:defRPr sz="1600"/>
            </a:pPr>
            <a:r>
              <a:t>• Cloud infrastructure &amp; DevOps</a:t>
            </a:r>
          </a:p>
          <a:p>
            <a:pPr lvl="1">
              <a:defRPr sz="1600"/>
            </a:pPr>
            <a:r>
              <a:t>• Data governance framework</a:t>
            </a:r>
          </a:p>
          <a:p>
            <a:br/>
            <a:pPr>
              <a:defRPr b="1" sz="1800">
                <a:solidFill>
                  <a:srgbClr val="002060"/>
                </a:solidFill>
              </a:defRPr>
            </a:pPr>
            <a:r>
              <a:t>Phase 2: Migration (Months 4-9)</a:t>
            </a:r>
          </a:p>
          <a:p>
            <a:pPr lvl="1">
              <a:defRPr sz="1600"/>
            </a:pPr>
            <a:r>
              <a:t>• Priority data sources to lake</a:t>
            </a:r>
          </a:p>
          <a:p>
            <a:pPr lvl="1">
              <a:defRPr sz="1600"/>
            </a:pPr>
            <a:r>
              <a:t>• Core pipelines &amp; quality gates</a:t>
            </a:r>
          </a:p>
          <a:p>
            <a:br/>
            <a:pPr>
              <a:defRPr b="1" sz="1800">
                <a:solidFill>
                  <a:srgbClr val="002060"/>
                </a:solidFill>
              </a:defRPr>
            </a:pPr>
            <a:r>
              <a:t>Phase 3: Scale (Months 10-12)</a:t>
            </a:r>
          </a:p>
          <a:p>
            <a:pPr lvl="1">
              <a:defRPr sz="1600"/>
            </a:pPr>
            <a:r>
              <a:t>• Full production deployment</a:t>
            </a:r>
          </a:p>
          <a:p>
            <a:pPr lvl="1">
              <a:defRPr sz="1600"/>
            </a:pPr>
            <a:r>
              <a:t>• ML models &amp; advanced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Head of 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2060"/>
                </a:solidFill>
              </a:defRPr>
            </a:pPr>
            <a:r>
              <a:t>Technical Leadership</a:t>
            </a:r>
          </a:p>
          <a:p>
            <a:pPr>
              <a:defRPr sz="1600"/>
            </a:pPr>
            <a:r>
              <a:t>• Set standards: IaC, DataOps, quality frameworks</a:t>
            </a:r>
          </a:p>
          <a:p>
            <a:br/>
            <a:pPr>
              <a:defRPr b="1" sz="2000">
                <a:solidFill>
                  <a:srgbClr val="002060"/>
                </a:solidFill>
              </a:defRPr>
            </a:pPr>
            <a:r>
              <a:t>Team Development</a:t>
            </a:r>
          </a:p>
          <a:p>
            <a:pPr>
              <a:defRPr sz="1600"/>
            </a:pPr>
            <a:r>
              <a:t>• Build &amp; coach 14+ multidisciplinary engineers</a:t>
            </a:r>
          </a:p>
          <a:p>
            <a:br/>
            <a:pPr>
              <a:defRPr b="1" sz="2000">
                <a:solidFill>
                  <a:srgbClr val="002060"/>
                </a:solidFill>
              </a:defRPr>
            </a:pPr>
            <a:r>
              <a:t>Stakeholder Partnership</a:t>
            </a:r>
          </a:p>
          <a:p>
            <a:pPr>
              <a:defRPr sz="1600"/>
            </a:pPr>
            <a:r>
              <a:t>• Align with ARE priorities: payments, climate, compliance</a:t>
            </a:r>
          </a:p>
          <a:p>
            <a:br/>
            <a:pPr>
              <a:defRPr b="1" sz="2000">
                <a:solidFill>
                  <a:srgbClr val="002060"/>
                </a:solidFill>
              </a:defRPr>
            </a:pPr>
            <a:r>
              <a:t>Platform Ownership</a:t>
            </a:r>
          </a:p>
          <a:p>
            <a:pPr>
              <a:defRPr sz="1600"/>
            </a:pPr>
            <a:r>
              <a:t>• Own roadmap, reliability (99.9% SLA), cost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